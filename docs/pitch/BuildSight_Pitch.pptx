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product and the city, not a tragedy. Tagline first. Stakes land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/ surveyors'-institute figures. Our exact ingested counts (51,037 / 34,908 / 12,162) are on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MBIS: 30+ buildings, licensed RI every 10 years. ~2,500/yr derived load; fee HK$50–200k per building before repairs. Source: MBIS Inspection.md, Building resource overview.md.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~2,000/yr selected and falling vs ~2,500 required; ~12,000 never selected; ~20-yr backlog; notices 5+ yrs. Backlog '~20 years' is the end-2019 Audit Commission MBIS finding (cite the scheme).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FRAMING: Wang Fuk Court fire, Nov 2025, 168 lives. Do NOT claim it was inspected 16 times under MBIS — those were Labour Dept site-safety checks of the renovation, not MBIS structural inspections. Confirm exact falling-concrete incident count before quoting it. RMAA HK$93.1B/yr (34.3%) from Building resource overview.md.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say augment / triage / screen — never replace the statutory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reproducible from model/train_baseline.py. Trained only on the 30+ cohort (34,908 buildings, 1,998 positives, 5.7% base rate). 13.4% precision@500 = 2.3x lift; InSAR lifts top-100 precision 7.0%→8.0%.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99.3% test accuracy / 0.992 macro F1 measured on OPEN datasets (Ozgenel concrete + CRACK500 pavement), ~24k patches — NOT HK facades yet. Do not present the old unverified '98%' target. EfficientNet-B0, 4.0M params, ~16MB, ~40ms/patch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De-risk: real ingested data + working dashboard (React+TS+MapLibre+Supabase, auth+RLS) + live crack-CV Gradio demo. Ground-motion signal on 7,885 blocks (15.4%).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Funnel: 50,000 → 34,908 (30+) → ~12,000 unselected → top-500 risk-ranked → small 'send a human' set. Four wins: early signal under-30, triage 30+, near-free Tier-1, fewer Tier-2 (HK$50–200k each).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Defensible wedge: prioritisation UPSTREAM of the certified inspection (MBIS Inspection.md §3). Feeds BD's existing Building Score System. Buyer = BD/government; beneficiaries = owners +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Memorable last line + the ask: pilot with BD on one district; access to notice + incident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88920"/>
            <a:ext cx="82296" cy="457200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inspectors where they're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needed, first.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satellite-and-AI triage layer for Hong Kong's building-inspection system.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25880" y="6355080"/>
            <a:ext cx="146304" cy="146304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8" name="Text 6"/>
          <p:cNvSpPr/>
          <p:nvPr/>
        </p:nvSpPr>
        <p:spPr>
          <a:xfrm>
            <a:off x="1527048" y="6291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6355080"/>
            <a:ext cx="146304" cy="146304"/>
          </a:xfrm>
          <a:prstGeom prst="ellipse">
            <a:avLst/>
          </a:prstGeom>
          <a:solidFill>
            <a:srgbClr val="F5B642"/>
          </a:solidFill>
          <a:ln/>
        </p:spPr>
      </p:sp>
      <p:sp>
        <p:nvSpPr>
          <p:cNvPr id="10" name="Text 8"/>
          <p:cNvSpPr/>
          <p:nvPr/>
        </p:nvSpPr>
        <p:spPr>
          <a:xfrm>
            <a:off x="2670048" y="6291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6355080"/>
            <a:ext cx="146304" cy="146304"/>
          </a:xfrm>
          <a:prstGeom prst="ellipse">
            <a:avLst/>
          </a:prstGeom>
          <a:solidFill>
            <a:srgbClr val="F37735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6291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6355080"/>
            <a:ext cx="146304" cy="146304"/>
          </a:xfrm>
          <a:prstGeom prst="ellipse">
            <a:avLst/>
          </a:prstGeom>
          <a:solidFill>
            <a:srgbClr val="E8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6291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8415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HONG KONG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SCALE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world's oldest, densest building stocks —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ageing faster than it can be inspected.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429000" cy="27432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64008" cy="2743200"/>
          </a:xfrm>
          <a:prstGeom prst="rect">
            <a:avLst/>
          </a:prstGeom>
          <a:solidFill>
            <a:srgbClr val="3FB6B0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9992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~50,000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50976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BUILDINGS ACROSS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HONG KONG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1348" y="2743200"/>
            <a:ext cx="3429000" cy="27432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1348" y="2743200"/>
            <a:ext cx="64008" cy="2743200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13" name="Text 11"/>
          <p:cNvSpPr/>
          <p:nvPr/>
        </p:nvSpPr>
        <p:spPr>
          <a:xfrm>
            <a:off x="4673956" y="29992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~30,000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692244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AGED 30+ YEARS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(≈ 60% OF THE STOCK)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2615" y="2743200"/>
            <a:ext cx="3429000" cy="27432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2615" y="2743200"/>
            <a:ext cx="64008" cy="2743200"/>
          </a:xfrm>
          <a:prstGeom prst="rect">
            <a:avLst/>
          </a:prstGeom>
          <a:solidFill>
            <a:srgbClr val="F37735"/>
          </a:solidFill>
          <a:ln/>
        </p:spPr>
      </p:sp>
      <p:sp>
        <p:nvSpPr>
          <p:cNvPr id="17" name="Text 15"/>
          <p:cNvSpPr/>
          <p:nvPr/>
        </p:nvSpPr>
        <p:spPr>
          <a:xfrm>
            <a:off x="8415223" y="29992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33511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 50 YEARS OLD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/ surveyors'-institute figures. Our exact ingested counts appear on slide 9.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THE LAW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law, every old building must be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inspected — on a fixed clock.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spc="1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Building Inspection Scheme (MBIS)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30+ years must be inspected by a licensed Registered Inspector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every 10 years.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2834640" cy="169164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160520"/>
            <a:ext cx="64008" cy="1691640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4165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~2,500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50976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INSPECTIONS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/ YEAR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4160520"/>
            <a:ext cx="2834640" cy="169164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4160520"/>
            <a:ext cx="64008" cy="1691640"/>
          </a:xfrm>
          <a:prstGeom prst="rect">
            <a:avLst/>
          </a:prstGeom>
          <a:solidFill>
            <a:srgbClr val="F37735"/>
          </a:solidFill>
          <a:ln/>
        </p:spPr>
      </p:sp>
      <p:sp>
        <p:nvSpPr>
          <p:cNvPr id="14" name="Text 12"/>
          <p:cNvSpPr/>
          <p:nvPr/>
        </p:nvSpPr>
        <p:spPr>
          <a:xfrm>
            <a:off x="4041648" y="44165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$50–200k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059936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HK$ PER BUILDING,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REPAIR</a:t>
            </a:r>
            <a:endParaRPr lang="en-US" sz="1150" dirty="0"/>
          </a:p>
        </p:txBody>
      </p:sp>
      <p:pic>
        <p:nvPicPr>
          <p:cNvPr id="16" name="Image 0" descr="assets/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331720"/>
            <a:ext cx="4023360" cy="4023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6126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10-YEAR CYCLE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THE GAP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the law.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capacity.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852160" cy="457200"/>
          </a:xfrm>
          <a:prstGeom prst="rect">
            <a:avLst/>
          </a:prstGeom>
          <a:solidFill>
            <a:srgbClr val="111824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5852160" cy="457200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066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/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~2,500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852160" cy="457200"/>
          </a:xfrm>
          <a:prstGeom prst="rect">
            <a:avLst/>
          </a:prstGeom>
          <a:solidFill>
            <a:srgbClr val="111824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77640"/>
            <a:ext cx="4681728" cy="457200"/>
          </a:xfrm>
          <a:prstGeom prst="rect">
            <a:avLst/>
          </a:prstGeom>
          <a:solidFill>
            <a:srgbClr val="F377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66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ACTUALLY SELECTED — AND FALLING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667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77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5852160" cy="13716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29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8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~12,000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never even selected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left outstanding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60920" y="2697480"/>
            <a:ext cx="4160520" cy="3520440"/>
          </a:xfrm>
          <a:prstGeom prst="rect">
            <a:avLst/>
          </a:prstGeom>
          <a:solidFill>
            <a:srgbClr val="140A0C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TODAY'S PACE,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CLEARING THE BACKLOG TAKES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361188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8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</a:t>
            </a:r>
            <a:endParaRPr lang="en-US" sz="12000" dirty="0"/>
          </a:p>
        </p:txBody>
      </p:sp>
      <p:sp>
        <p:nvSpPr>
          <p:cNvPr id="20" name="Text 18"/>
          <p:cNvSpPr/>
          <p:nvPr/>
        </p:nvSpPr>
        <p:spPr>
          <a:xfrm>
            <a:off x="7360920" y="5349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Commission, end-2019 (MBIS).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C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THE STAKES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money — and lives.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486400" cy="2743200"/>
          </a:xfrm>
          <a:prstGeom prst="rect">
            <a:avLst/>
          </a:prstGeom>
          <a:solidFill>
            <a:srgbClr val="0C111C">
              <a:alpha val="88000"/>
            </a:srgbClr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1760"/>
            <a:ext cx="64008" cy="274320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260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Fuk Court fire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2025 · 168 lives lost.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Falling-concrete incidents have recurred across the city since 2023 — the exact failure mode of un-triaged ageing facades.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2651760"/>
            <a:ext cx="5056632" cy="2743200"/>
          </a:xfrm>
          <a:prstGeom prst="rect">
            <a:avLst/>
          </a:prstGeom>
          <a:solidFill>
            <a:srgbClr val="0C111C">
              <a:alpha val="88000"/>
            </a:srgbClr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651760"/>
            <a:ext cx="64008" cy="2743200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297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B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HK$93.1B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812280" y="4069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 in repair, maintenance,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 &amp; addition work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34.3% of all HK construction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whether to inspect old buildings — it's which ones first.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triage layer in front of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inspection system.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206240" cy="265176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4206240" cy="73152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35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01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building data with satellite radar to rank every block by risk — so inspectors go to the worst first, not down an arbitrary age queue.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2743200"/>
            <a:ext cx="4206240" cy="265176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743200"/>
            <a:ext cx="4206240" cy="73152"/>
          </a:xfrm>
          <a:prstGeom prst="rect">
            <a:avLst/>
          </a:prstGeom>
          <a:solidFill>
            <a:srgbClr val="F37735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3035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77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401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cheaply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for interiors, drones for facades, and an edge AI model that auto-flags cracks — the first visual look, made near-free.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715000"/>
            <a:ext cx="10908792" cy="713232"/>
          </a:xfrm>
          <a:prstGeom prst="rect">
            <a:avLst/>
          </a:prstGeom>
          <a:solidFill>
            <a:srgbClr val="0A1018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71500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licensed inspector goes where it actually matters.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PILLAR A — PRIORITISE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engine that ranks inside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30+ cohort.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98064"/>
            <a:ext cx="164592" cy="164592"/>
          </a:xfrm>
          <a:prstGeom prst="ellipse">
            <a:avLst/>
          </a:prstGeom>
          <a:solidFill>
            <a:srgbClr val="F5B642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70662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fundamentals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30175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· height · use class · structure · district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39312"/>
            <a:ext cx="164592" cy="164592"/>
          </a:xfrm>
          <a:prstGeom prst="ellipse">
            <a:avLst/>
          </a:prstGeom>
          <a:solidFill>
            <a:srgbClr val="F37735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54787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Statutory-notice history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" y="385876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2,056 inspection / repair notices as labels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6EC1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3891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InSAR ground motion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47000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Sentinel-1 radar — mm/yr movement, any 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5943600" cy="914400"/>
          </a:xfrm>
          <a:prstGeom prst="rect">
            <a:avLst/>
          </a:prstGeom>
          <a:solidFill>
            <a:srgbClr val="08131A"/>
          </a:solidFill>
          <a:ln w="12700">
            <a:solidFill>
              <a:srgbClr val="6EC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40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6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precision@500 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2.3× lift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InSAR lifts top-100 precision 7.0% → 8.0% — right where a dispatcher looks first.</a:t>
            </a:r>
            <a:endParaRPr lang="en-US" sz="2600" dirty="0"/>
          </a:p>
        </p:txBody>
      </p:sp>
      <p:pic>
        <p:nvPicPr>
          <p:cNvPr id="18" name="Image 0" descr="assets/risk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94560"/>
            <a:ext cx="4663440" cy="31546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03720" y="5413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100 RISK SCORE PER BUILDING  ·  ALL 51,037 BLOCKS</a:t>
            </a:r>
            <a:endParaRPr lang="en-US" sz="950" dirty="0"/>
          </a:p>
        </p:txBody>
      </p:sp>
      <p:pic>
        <p:nvPicPr>
          <p:cNvPr id="20" name="Image 1" descr="assets/ins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806440"/>
            <a:ext cx="1463040" cy="914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03920" y="5897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Sentinel-1 InSAR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interferograms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PILLAR B — SCREEN CHEAPLY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visual screening that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drone or a phone.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capture interiors. Drones capture facades.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computer-vision model flags cracks, spalling and road damage automatically.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2743200" cy="1024128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56432"/>
            <a:ext cx="54864" cy="1024128"/>
          </a:xfrm>
          <a:prstGeom prst="rect">
            <a:avLst/>
          </a:prstGeom>
          <a:solidFill>
            <a:srgbClr val="3FB6B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3456432"/>
            <a:ext cx="2743200" cy="1024128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3456432"/>
            <a:ext cx="54864" cy="1024128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67912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8620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F1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2743200" cy="1024128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663440"/>
            <a:ext cx="54864" cy="1024128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773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MB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5321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EFFICIENTNET-B0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4663440"/>
            <a:ext cx="2743200" cy="1024128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4663440"/>
            <a:ext cx="54864" cy="1024128"/>
          </a:xfrm>
          <a:prstGeom prst="rect">
            <a:avLst/>
          </a:prstGeom>
          <a:solidFill>
            <a:srgbClr val="F37735"/>
          </a:solidFill>
          <a:ln/>
        </p:spPr>
      </p:sp>
      <p:sp>
        <p:nvSpPr>
          <p:cNvPr id="22" name="Text 20"/>
          <p:cNvSpPr/>
          <p:nvPr/>
        </p:nvSpPr>
        <p:spPr>
          <a:xfrm>
            <a:off x="3867912" y="4773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86200" y="5321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PATCH, ON CPU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Edge-capable — no datacentre in the loop. Accuracy measured on open crack datasets.</a:t>
            </a:r>
            <a:endParaRPr lang="en-US" sz="950" dirty="0"/>
          </a:p>
        </p:txBody>
      </p:sp>
      <p:pic>
        <p:nvPicPr>
          <p:cNvPr id="25" name="Image 0" descr="assets/cra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40880" y="2331720"/>
            <a:ext cx="4526280" cy="34747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40880" y="5897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·  DROP A PHOTO → CRACK HEATMAP + SEVERITY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PROOF — WE BUILT THIS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mockup. Real data,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dashboard, a live demo.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606040" cy="18288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2606040" cy="64008"/>
          </a:xfrm>
          <a:prstGeom prst="rect">
            <a:avLst/>
          </a:prstGeom>
          <a:solidFill>
            <a:srgbClr val="3FB6B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51,037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86968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BUILDINGS INGESTED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8578" y="2743200"/>
            <a:ext cx="2606040" cy="18288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8578" y="2743200"/>
            <a:ext cx="2606040" cy="64008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7178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55466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NOTICE LABELS JOINED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7077" y="2743200"/>
            <a:ext cx="2606040" cy="18288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7077" y="2743200"/>
            <a:ext cx="2606040" cy="64008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5677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342,350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23965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FOOTPRINTS W/ HEIGHT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45575" y="2743200"/>
            <a:ext cx="2606040" cy="182880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5575" y="2743200"/>
            <a:ext cx="2606040" cy="64008"/>
          </a:xfrm>
          <a:prstGeom prst="rect">
            <a:avLst/>
          </a:prstGeom>
          <a:solidFill>
            <a:srgbClr val="F37735"/>
          </a:solidFill>
          <a:ln/>
        </p:spPr>
      </p:sp>
      <p:sp>
        <p:nvSpPr>
          <p:cNvPr id="21" name="Text 19"/>
          <p:cNvSpPr/>
          <p:nvPr/>
        </p:nvSpPr>
        <p:spPr>
          <a:xfrm>
            <a:off x="9174175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192463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SENTINEL-1 INTERFEROGRAMS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0908792" cy="1143000"/>
          </a:xfrm>
          <a:prstGeom prst="rect">
            <a:avLst/>
          </a:prstGeom>
          <a:solidFill>
            <a:srgbClr val="0A1018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0749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dashboard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TypeScript · MapLibre · Supabase — auth + row-level security.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Ground-motion signal on 7,885 blocks   ·   live drag-and-drop crack-CV demo.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THE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50,000 buildings down to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few that need a human.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2697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30266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 under-30 buildings that are already moving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F5B642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5661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triage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9264" y="389534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the 30+ cohort by real risk, not 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82880" cy="182880"/>
          </a:xfrm>
          <a:prstGeom prst="ellipse">
            <a:avLst/>
          </a:prstGeom>
          <a:solidFill>
            <a:srgbClr val="F37735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44348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Near-free Tier-1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9264" y="476402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 + phone + edge CV collapse the visual look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82880" cy="182880"/>
          </a:xfrm>
          <a:prstGeom prst="ellipse">
            <a:avLst/>
          </a:prstGeom>
          <a:solidFill>
            <a:srgbClr val="E8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53035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Tier-2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264" y="56327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Costly physical inspections (HK$50–200k) only where needed</a:t>
            </a:r>
            <a:endParaRPr lang="en-US" sz="1050" dirty="0"/>
          </a:p>
        </p:txBody>
      </p:sp>
      <p:pic>
        <p:nvPicPr>
          <p:cNvPr id="19" name="Image 0" descr="assets/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240280"/>
            <a:ext cx="4023360" cy="40233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98080" y="25054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34,908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98080" y="40782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~12,000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98080" y="4873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98080" y="56509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A HUMAN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310896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pPr indent="0" marL="0">
              <a:buNone/>
            </a:pPr>
            <a:r>
              <a:rPr lang="en-US" sz="950" spc="100" kern="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Hong Kong Building-Inspection Triage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72281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Augments the licensed inspector.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replaces the statutory inspection.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400800" cy="868680"/>
          </a:xfrm>
          <a:prstGeom prst="rect">
            <a:avLst/>
          </a:prstGeom>
          <a:solidFill>
            <a:srgbClr val="08131A"/>
          </a:solidFill>
          <a:ln w="17780">
            <a:solidFill>
              <a:srgbClr val="6EC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73152" cy="868680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871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BUILDSIGHT — triage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21868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· screen · dispatch  (our upstream wedge)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35844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6400800" cy="868680"/>
          </a:xfrm>
          <a:prstGeom prst="rect">
            <a:avLst/>
          </a:prstGeom>
          <a:solidFill>
            <a:srgbClr val="110D08"/>
          </a:solidFill>
          <a:ln w="17780">
            <a:solidFill>
              <a:srgbClr val="F5B6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94760"/>
            <a:ext cx="73152" cy="868680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9227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Building Score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42702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Re-ranks which unselected buildings to notice first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636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6400800" cy="868680"/>
          </a:xfrm>
          <a:prstGeom prst="rect">
            <a:avLst/>
          </a:prstGeom>
          <a:solidFill>
            <a:srgbClr val="0C111C"/>
          </a:solidFill>
          <a:ln w="17780">
            <a:solidFill>
              <a:srgbClr val="6C768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846320"/>
            <a:ext cx="73152" cy="868680"/>
          </a:xfrm>
          <a:prstGeom prst="rect">
            <a:avLst/>
          </a:prstGeom>
          <a:solidFill>
            <a:srgbClr val="6C7689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974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inspection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53218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Licensed RI · certified Tier-2 grade — legally locked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35240" y="2743200"/>
            <a:ext cx="3913632" cy="3154680"/>
          </a:xfrm>
          <a:prstGeom prst="rect">
            <a:avLst/>
          </a:prstGeom>
          <a:solidFill>
            <a:srgbClr val="0C111C"/>
          </a:solidFill>
          <a:ln w="12700">
            <a:solidFill>
              <a:srgbClr val="243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9718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PAYS · WHO BENEFITS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34290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Department / government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wasted inspection cost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buildings, sooner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0"/>
            <a:ext cx="82296" cy="457200"/>
          </a:xfrm>
          <a:prstGeom prst="rect">
            <a:avLst/>
          </a:prstGeom>
          <a:solidFill>
            <a:srgbClr val="6EC1FF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inspectors. Same law.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fraction of the wasted trips.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0908792" cy="1143000"/>
          </a:xfrm>
          <a:prstGeom prst="rect">
            <a:avLst/>
          </a:prstGeom>
          <a:solidFill>
            <a:srgbClr val="0A1018">
              <a:alpha val="82000"/>
            </a:srgbClr>
          </a:solidFill>
          <a:ln w="12700">
            <a:solidFill>
              <a:srgbClr val="6EC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9377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   </a:t>
            </a:r>
            <a:pPr indent="0" marL="0">
              <a:buNone/>
            </a:pPr>
            <a:r>
              <a:rPr lang="en-US" sz="1500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with the Buildings Department on one district — plus access to notice + incident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BuildSight — Hong Kong Building Triage</dc:title>
  <dc:subject>PptxGenJS Presentation</dc:subject>
  <dc:creator>BuildSight</dc:creator>
  <cp:lastModifiedBy>BuildSight</cp:lastModifiedBy>
  <cp:revision>1</cp:revision>
  <dcterms:created xsi:type="dcterms:W3CDTF">2026-06-06T17:25:03Z</dcterms:created>
  <dcterms:modified xsi:type="dcterms:W3CDTF">2026-06-06T17:25:03Z</dcterms:modified>
</cp:coreProperties>
</file>