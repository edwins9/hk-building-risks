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· BUILDING SAFETY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inspectors where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they're needed — first.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layer that ranks 50,000 buildings by real risk — so scarce, expensive inspections go to the right place.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4846320"/>
            <a:ext cx="3657600" cy="18288"/>
          </a:xfrm>
          <a:prstGeom prst="rect">
            <a:avLst/>
          </a:prstGeom>
          <a:solidFill>
            <a:srgbClr val="3A445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dead at Wang Fuk Court, Nov 2025.  </a:t>
            </a:r>
            <a:pPr indent="0" marL="0">
              <a:buNone/>
            </a:pPr>
            <a:r>
              <a:rPr lang="en-US" sz="1600" i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had been inspected 16 times.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PRODUCT NAME ]   ·   EuroTech Hong Kong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vast, ageing building stock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Kong's housing was largely built in the post-war decades. Most of that stock is now old enough to fall under mandatory inspection — and the aged share keeps growing.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26080"/>
            <a:ext cx="342900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821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~50,000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4005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in Hong Kong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(~44,250 private, 81% residential)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9260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9976" y="2926080"/>
            <a:ext cx="3429000" cy="9144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31821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~30,000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62856" y="4005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30+ years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(approx. 60% of all buildings)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29260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4152" y="2926080"/>
            <a:ext cx="3429000" cy="9144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31821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~10,000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57032" y="4005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50+ years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(+~600 every year)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7492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85800" y="5056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55138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7698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Icon-grid of 100 buildings, 60% shaded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61173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share of stock aged 30+ — reinforces the headline number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 creates non-stop demand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 — Mandatory Building Inspection Scheme:  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 30+ years old must be inspected by a licensed inspector once every 10 years.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crosses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threshold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47288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4448" y="3310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serves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notice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33288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08776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8776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45936" y="3310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+ certifies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94776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970264" y="2697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0264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07424" y="3310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572000"/>
            <a:ext cx="5349240" cy="9144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280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~2,500 / yr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68680" y="56509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legally required (30+ stock / 10)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572000"/>
            <a:ext cx="534924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8280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HK$50k–200k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309360" y="56509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building inspection — before any repairs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can't meet the demand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Buildings Department selects fewer buildings than the law requires — and the number is falling. The backlog now outlasts the very inspection cycle it's meant to serve.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880360"/>
            <a:ext cx="310896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363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~2,000/yr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selected, and falling (vs ~2,500 required)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88036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2880360"/>
            <a:ext cx="3108960" cy="9144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31363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~12,000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20624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never selected at 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288036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2880360"/>
            <a:ext cx="310896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1363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 years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54380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clear the backlog at today's pace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left outstanding 5+ years.   </a:t>
            </a:r>
            <a:pPr indent="0" marL="0">
              <a:buNone/>
            </a:pPr>
            <a:r>
              <a:rPr lang="en-US" sz="1600" i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the law — it's inspection capacity.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544068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60120" y="544068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  </a:t>
            </a:r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annual inspection load vs capacity (forecast plot from exploration.ipynb)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triage fails, people die.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232C3B"/>
          </a:solidFill>
          <a:ln w="19050">
            <a:solidFill>
              <a:srgbClr val="56607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32278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85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9410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photo strip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2885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Fuk Court fire · falling concrete · Ma Tau Wai collapse (2010). Use news-cleared imagery.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1965960"/>
            <a:ext cx="4846320" cy="1097280"/>
          </a:xfrm>
          <a:prstGeom prst="rect">
            <a:avLst/>
          </a:prstGeom>
          <a:solidFill>
            <a:srgbClr val="1F2735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82296" cy="109728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112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Wang Fuk Court fire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0" y="2532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dead, Nov 2025 — Hong Kong's deadliest in decades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3246120"/>
            <a:ext cx="4846320" cy="1097280"/>
          </a:xfrm>
          <a:prstGeom prst="rect">
            <a:avLst/>
          </a:prstGeom>
          <a:solidFill>
            <a:srgbClr val="1F2735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3246120"/>
            <a:ext cx="82296" cy="109728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3924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~18+ incidents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58000" y="3813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falling-concrete cases since July 2023 (verify count)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4526280"/>
            <a:ext cx="4846320" cy="1097280"/>
          </a:xfrm>
          <a:prstGeom prst="rect">
            <a:avLst/>
          </a:prstGeom>
          <a:solidFill>
            <a:srgbClr val="1F2735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4526280"/>
            <a:ext cx="82296" cy="109728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6725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HK$93.1 billion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0" y="5093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repair (RMAA) market — 34% of all construction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triage layer in front of inspection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replace the licensed inspection. We sit upstream of it and decide where it should go — using two complementary engines.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697480"/>
            <a:ext cx="5074920" cy="109728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71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Prioritise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building age, statutory-notice history &amp; InSAR satellite radar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mm-scale ground / structural movement — at any 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0–100 priority score per building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28232" y="269748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697480"/>
            <a:ext cx="5074920" cy="10972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748272" y="2971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Screen cheaply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48272" y="361188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photograph interiors; drones capture facades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flags cracks, spalling &amp; exposed rebar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Tier-1 visual look that needed a person on site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553212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161A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licensed inspector is dispatched only where it actually matters.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prioritisation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82296" cy="9144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48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records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use · structure · district (DS1, 51k)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971800"/>
            <a:ext cx="82296" cy="9144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9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history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inspection / repair notices (DS2)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023360"/>
            <a:ext cx="82296" cy="9144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InSAR — Sentinel-1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mm/yr ground &amp; structural movement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49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029200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priority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building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126480" y="343357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389077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14680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HK risk map (red → green)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44942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live Leaflet map + click-to-detail panel. The hero visual.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Near-free Tier-1 screening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part of an early look is sending a person. We remove that: crowd-sourced phones and drones capture the imagery, and computer vision does the first read.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33649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822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78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of interior crack + CV 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25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capture → defect auto-flagged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78892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63640" y="33649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3822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078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facade shot + CV boxes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425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External-wall spalling / rebar, auto-detected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161A2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crack detection</a:t>
            </a:r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automates the visual screening that previously required a licensed inspector on site for every building.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WE BUILT THIS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data, already wired up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2606040" cy="9144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219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51,037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ingested (DS1)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965960"/>
            <a:ext cx="2606040" cy="9144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2219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2,056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93592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labels joined (DS2)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35624" y="19659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965960"/>
            <a:ext cx="2606040" cy="9144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2219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342,350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18504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footprints w/ height (CSDI)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0536" y="19659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0536" y="1965960"/>
            <a:ext cx="260604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8997696" y="22219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43416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interferograms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EAF6F4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86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lift</a:t>
            </a:r>
            <a:pPr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precision@500 ≈ 12% — baseline, before InSAR is added.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DS1/DS2 join verified on Block ID (2,055 / 2,056 matched).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88620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126480" y="446227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491947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517550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screenshot + data-pipeline strip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5229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product runs end-to-end on real HK open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50,000 buildings to a short list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6126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67712"/>
            <a:ext cx="457200" cy="457200"/>
          </a:xfrm>
          <a:prstGeom prst="ellipse">
            <a:avLst/>
          </a:prstGeom>
          <a:solidFill>
            <a:srgbClr val="1FA89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305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&lt; 30 yrs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2374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InSAR flags movement before a building is even eligible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090672"/>
            <a:ext cx="6126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346704"/>
            <a:ext cx="457200" cy="45720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2095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triage of 30+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6027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~12,000 unselected by real risk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169664"/>
            <a:ext cx="6126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25696"/>
            <a:ext cx="457200" cy="45720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288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 Tier-1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6817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drone + CV replace the costly first visit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248656"/>
            <a:ext cx="6126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50468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67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Tier-2 trips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760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physical inspections only where needed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86600" y="2011680"/>
            <a:ext cx="4389120" cy="4160520"/>
          </a:xfrm>
          <a:prstGeom prst="roundRect">
            <a:avLst>
              <a:gd name="adj" fmla="val 1319"/>
            </a:avLst>
          </a:prstGeom>
          <a:solidFill>
            <a:srgbClr val="EBEEF3"/>
          </a:solidFill>
          <a:ln w="19050">
            <a:solidFill>
              <a:srgbClr val="AEB7C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086600" y="35250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39822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42382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diagram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45857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buildings → narrowing → a small set of red 'send a human' dots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09728" cy="1371600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ADOPTION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 the inspector — don't replace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upstream of the legally locked statutory inspection. </a:t>
            </a:r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feed BD's existing risk-based Building Score System — no regulatory change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FA89B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triage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+ cheap screen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89120" y="2834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2A33C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 selection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notice next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43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1A23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RI inspection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statutory, certified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709160"/>
            <a:ext cx="35021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4709160"/>
            <a:ext cx="3502152" cy="82296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Department / government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89120" y="4709160"/>
            <a:ext cx="35021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4709160"/>
            <a:ext cx="3502152" cy="82296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inspection spend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92440" y="4709160"/>
            <a:ext cx="35021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4709160"/>
            <a:ext cx="3502152" cy="82296"/>
          </a:xfrm>
          <a:prstGeom prst="rect">
            <a:avLst/>
          </a:prstGeom>
          <a:solidFill>
            <a:srgbClr val="1FA89B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falling-concrete &amp; fire deaths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inspectors. Same law.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fraction of the wasted trips.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8412480" cy="1005840"/>
          </a:xfrm>
          <a:prstGeom prst="roundRect">
            <a:avLst>
              <a:gd name="adj" fmla="val 5455"/>
            </a:avLst>
          </a:prstGeom>
          <a:solidFill>
            <a:srgbClr val="1F2735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34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with the Buildings Department on one district — plus access to notice &amp; incident data.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PRODUCT NAME ]   ·   [ team / contact placeholder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 Building Inspection Triage — Pitch</dc:title>
  <dc:subject>PptxGenJS Presentation</dc:subject>
  <dc:creator>HK Building Risk Team</dc:creator>
  <cp:lastModifiedBy>HK Building Risk Team</cp:lastModifiedBy>
  <cp:revision>1</cp:revision>
  <dcterms:created xsi:type="dcterms:W3CDTF">2026-06-06T16:33:31Z</dcterms:created>
  <dcterms:modified xsi:type="dcterms:W3CDTF">2026-06-06T16:33:31Z</dcterms:modified>
</cp:coreProperties>
</file>